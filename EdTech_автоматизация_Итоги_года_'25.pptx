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8" r:id="rId3"/>
    <p:sldId id="257" r:id="rId4"/>
    <p:sldId id="271" r:id="rId5"/>
    <p:sldId id="258" r:id="rId6"/>
    <p:sldId id="259" r:id="rId7"/>
    <p:sldId id="261" r:id="rId8"/>
    <p:sldId id="262" r:id="rId9"/>
    <p:sldId id="263" r:id="rId10"/>
    <p:sldId id="264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68874" autoAdjust="0"/>
  </p:normalViewPr>
  <p:slideViewPr>
    <p:cSldViewPr snapToGrid="0" showGuides="1">
      <p:cViewPr varScale="1">
        <p:scale>
          <a:sx n="78" d="100"/>
          <a:sy n="78" d="100"/>
        </p:scale>
        <p:origin x="1812" y="54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243100-B83B-45B4-B82B-2F500CE0144E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51AE0B-1B91-4EF9-AFA7-1E7C4B2797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982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Тут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51AE0B-1B91-4EF9-AFA7-1E7C4B27978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3400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Тут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51AE0B-1B91-4EF9-AFA7-1E7C4B27978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82859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Название программы для ИИ-проводников следует уточнить. Для Школы аналитика – </a:t>
            </a:r>
            <a:r>
              <a:rPr lang="ru-RU" dirty="0" err="1"/>
              <a:t>скринкаст</a:t>
            </a:r>
            <a:r>
              <a:rPr lang="ru-RU" dirty="0"/>
              <a:t> (нужно понять, как сделать, думаю)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51AE0B-1B91-4EF9-AFA7-1E7C4B27978B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66973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Тут сильно урезанный </a:t>
            </a:r>
            <a:r>
              <a:rPr lang="ru-RU" dirty="0" err="1"/>
              <a:t>скринкаст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51AE0B-1B91-4EF9-AFA7-1E7C4B27978B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9739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Тексты – сильно короче, все подробности – голосом. Сопровождение визуальное – либо короткий (очень!) </a:t>
            </a:r>
            <a:r>
              <a:rPr lang="ru-RU" dirty="0" err="1"/>
              <a:t>скринкаст</a:t>
            </a:r>
            <a:r>
              <a:rPr lang="ru-RU" dirty="0"/>
              <a:t>, либо пачка скринов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51AE0B-1B91-4EF9-AFA7-1E7C4B27978B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00679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Тут аналогично предыдущему – очень коротко тексты, подробности голосом. Говорим про возможность адаптивной логики (не важно, что сейчас пока сыро или нет совсем, докрутим – без этого ценность придется доказывать, с этим точно купят). Обязательно показываем кнопку Посмотреть результат. Позиционируем как ранний пилот, объявляем о наборе бета-тестеров – дабы ожидания пригасить. Объявляем о намерении провести подробное демо, просим оставлять заявки (типа «Звоните прямо сейчас!»)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51AE0B-1B91-4EF9-AFA7-1E7C4B27978B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65135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Тут </a:t>
            </a:r>
            <a:r>
              <a:rPr lang="ru-RU" dirty="0" err="1"/>
              <a:t>скринкаст</a:t>
            </a:r>
            <a:r>
              <a:rPr lang="ru-RU" dirty="0"/>
              <a:t> робота, который нажимает на кнопки сам - запишу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51AE0B-1B91-4EF9-AFA7-1E7C4B27978B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70215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Нужен </a:t>
            </a:r>
            <a:r>
              <a:rPr lang="ru-RU" dirty="0" err="1"/>
              <a:t>скринкаст</a:t>
            </a:r>
            <a:r>
              <a:rPr lang="ru-RU" dirty="0"/>
              <a:t> с демонстрацией. Текст на слайде – </a:t>
            </a:r>
            <a:r>
              <a:rPr lang="ru-RU" dirty="0" err="1"/>
              <a:t>предельлно</a:t>
            </a:r>
            <a:r>
              <a:rPr lang="ru-RU" dirty="0"/>
              <a:t> короткий. Типа:</a:t>
            </a:r>
          </a:p>
          <a:p>
            <a:endParaRPr lang="ru-RU" dirty="0"/>
          </a:p>
          <a:p>
            <a:pPr marL="228600" indent="-228600">
              <a:buAutoNum type="arabicPeriod"/>
            </a:pPr>
            <a:r>
              <a:rPr lang="ru-RU" dirty="0"/>
              <a:t>Сделай шаблон (или закажи у нас)</a:t>
            </a:r>
          </a:p>
          <a:p>
            <a:pPr marL="228600" indent="-228600">
              <a:buAutoNum type="arabicPeriod"/>
            </a:pPr>
            <a:r>
              <a:rPr lang="ru-RU" dirty="0"/>
              <a:t>Сформируй список </a:t>
            </a:r>
          </a:p>
          <a:p>
            <a:pPr marL="228600" indent="-228600">
              <a:buAutoNum type="arabicPeriod"/>
            </a:pPr>
            <a:r>
              <a:rPr lang="ru-RU" dirty="0"/>
              <a:t>Нажми «Сгенерировать»</a:t>
            </a:r>
          </a:p>
          <a:p>
            <a:pPr marL="228600" indent="-228600">
              <a:buAutoNum type="arabicPeriod"/>
            </a:pPr>
            <a:r>
              <a:rPr lang="ru-RU" dirty="0"/>
              <a:t>ВСЁ!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51AE0B-1B91-4EF9-AFA7-1E7C4B27978B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0046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3CE1-44A0-4AA2-A05C-750C43FCFBD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C913-9266-4D5D-8165-65E321AA98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391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3CE1-44A0-4AA2-A05C-750C43FCFBD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C913-9266-4D5D-8165-65E321AA98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4661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3CE1-44A0-4AA2-A05C-750C43FCFBD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C913-9266-4D5D-8165-65E321AA98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7213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3CE1-44A0-4AA2-A05C-750C43FCFBD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C913-9266-4D5D-8165-65E321AA98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9475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3CE1-44A0-4AA2-A05C-750C43FCFBD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C913-9266-4D5D-8165-65E321AA98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1029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3CE1-44A0-4AA2-A05C-750C43FCFBD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C913-9266-4D5D-8165-65E321AA98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1849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3CE1-44A0-4AA2-A05C-750C43FCFBD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C913-9266-4D5D-8165-65E321AA98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4751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3CE1-44A0-4AA2-A05C-750C43FCFBD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C913-9266-4D5D-8165-65E321AA98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2536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3CE1-44A0-4AA2-A05C-750C43FCFBD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C913-9266-4D5D-8165-65E321AA98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7977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3CE1-44A0-4AA2-A05C-750C43FCFBD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C913-9266-4D5D-8165-65E321AA98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8935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3CE1-44A0-4AA2-A05C-750C43FCFBD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C913-9266-4D5D-8165-65E321AA98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556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D3CE1-44A0-4AA2-A05C-750C43FCFBD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F7C913-9266-4D5D-8165-65E321AA98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6451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Магазин на диване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Максимум пользы на квадратный сантиметр</a:t>
            </a: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3937A099-3F2B-46E7-8969-570FEC9375D9}"/>
              </a:ext>
            </a:extLst>
          </p:cNvPr>
          <p:cNvGrpSpPr/>
          <p:nvPr/>
        </p:nvGrpSpPr>
        <p:grpSpPr>
          <a:xfrm rot="21040632">
            <a:off x="6955598" y="4197513"/>
            <a:ext cx="4523269" cy="791211"/>
            <a:chOff x="6798282" y="4151797"/>
            <a:chExt cx="4523269" cy="79121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EB18561-939D-4C94-8FDD-BCF1EE7EB8CE}"/>
                </a:ext>
              </a:extLst>
            </p:cNvPr>
            <p:cNvSpPr txBox="1"/>
            <p:nvPr/>
          </p:nvSpPr>
          <p:spPr>
            <a:xfrm rot="20654536">
              <a:off x="7072485" y="4268235"/>
              <a:ext cx="39245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800" dirty="0">
                  <a:solidFill>
                    <a:srgbClr val="C00000"/>
                  </a:solidFill>
                </a:rPr>
                <a:t>Звоните прямо сейчас!!!</a:t>
              </a:r>
            </a:p>
          </p:txBody>
        </p:sp>
        <p:sp>
          <p:nvSpPr>
            <p:cNvPr id="5" name="Прямоугольник: скругленные углы 4">
              <a:extLst>
                <a:ext uri="{FF2B5EF4-FFF2-40B4-BE49-F238E27FC236}">
                  <a16:creationId xmlns:a16="http://schemas.microsoft.com/office/drawing/2014/main" id="{4118407F-E0D4-4996-B225-63AB12417DAF}"/>
                </a:ext>
              </a:extLst>
            </p:cNvPr>
            <p:cNvSpPr/>
            <p:nvPr/>
          </p:nvSpPr>
          <p:spPr>
            <a:xfrm rot="20583555">
              <a:off x="6798282" y="4151797"/>
              <a:ext cx="4523269" cy="791211"/>
            </a:xfrm>
            <a:prstGeom prst="roundRect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110169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Праздничная распродажа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3C918FB-766D-4F40-B0D6-2AF4328B6538}"/>
              </a:ext>
            </a:extLst>
          </p:cNvPr>
          <p:cNvGrpSpPr/>
          <p:nvPr/>
        </p:nvGrpSpPr>
        <p:grpSpPr>
          <a:xfrm rot="21040632">
            <a:off x="6955598" y="4197513"/>
            <a:ext cx="4523269" cy="791211"/>
            <a:chOff x="6798282" y="4151797"/>
            <a:chExt cx="4523269" cy="79121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6A0B209-EC94-4126-955F-9CE6BFCDB873}"/>
                </a:ext>
              </a:extLst>
            </p:cNvPr>
            <p:cNvSpPr txBox="1"/>
            <p:nvPr/>
          </p:nvSpPr>
          <p:spPr>
            <a:xfrm rot="20654536">
              <a:off x="7668034" y="4268235"/>
              <a:ext cx="273344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800" dirty="0">
                  <a:solidFill>
                    <a:srgbClr val="C00000"/>
                  </a:solidFill>
                </a:rPr>
                <a:t>Нам три месяца!</a:t>
              </a:r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0A1AB11C-E3E5-420E-9AFA-8F726362928F}"/>
                </a:ext>
              </a:extLst>
            </p:cNvPr>
            <p:cNvSpPr/>
            <p:nvPr/>
          </p:nvSpPr>
          <p:spPr>
            <a:xfrm rot="20583555">
              <a:off x="6798282" y="4151797"/>
              <a:ext cx="4523269" cy="791211"/>
            </a:xfrm>
            <a:prstGeom prst="roundRect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010922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BotApp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517693" y="2506662"/>
            <a:ext cx="5169310" cy="4351338"/>
          </a:xfrm>
        </p:spPr>
        <p:txBody>
          <a:bodyPr>
            <a:normAutofit fontScale="55000" lnSpcReduction="20000"/>
          </a:bodyPr>
          <a:lstStyle/>
          <a:p>
            <a:r>
              <a:rPr lang="ru-RU" dirty="0">
                <a:solidFill>
                  <a:schemeClr val="bg1"/>
                </a:solidFill>
              </a:rPr>
              <a:t>Что нового, что ценного, что теперь могут наши боты (+конструктор для </a:t>
            </a:r>
            <a:r>
              <a:rPr lang="en-US" dirty="0">
                <a:solidFill>
                  <a:schemeClr val="bg1"/>
                </a:solidFill>
              </a:rPr>
              <a:t>tasks)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Для тасок: - сложность, тяжело </a:t>
            </a:r>
            <a:r>
              <a:rPr lang="ru-RU" dirty="0" err="1">
                <a:solidFill>
                  <a:schemeClr val="bg1"/>
                </a:solidFill>
              </a:rPr>
              <a:t>генерить</a:t>
            </a:r>
            <a:r>
              <a:rPr lang="ru-RU" dirty="0">
                <a:solidFill>
                  <a:schemeClr val="bg1"/>
                </a:solidFill>
              </a:rPr>
              <a:t> задачи для бота в формате «отправь пользователя «Х» такое-то сообщение в такое-то время» Надо заботится об отступах, запятых и всяких важных для кода штуках.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Для этого есть приложение конструктор (Есть версия с ИИ)</a:t>
            </a:r>
          </a:p>
          <a:p>
            <a:r>
              <a:rPr lang="ru-RU" dirty="0">
                <a:solidFill>
                  <a:schemeClr val="bg1"/>
                </a:solidFill>
              </a:rPr>
              <a:t>Обычное: 1. Зашел заполнил шаблон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2. Получил готовый </a:t>
            </a:r>
            <a:r>
              <a:rPr lang="en-US" dirty="0">
                <a:solidFill>
                  <a:schemeClr val="bg1"/>
                </a:solidFill>
              </a:rPr>
              <a:t>json</a:t>
            </a:r>
            <a:r>
              <a:rPr lang="ru-RU" dirty="0">
                <a:solidFill>
                  <a:schemeClr val="bg1"/>
                </a:solidFill>
              </a:rPr>
              <a:t> файл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3. Быстро глянул – проверил (ничего ли не забыл)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4. все используй, вставляя в бота</a:t>
            </a:r>
          </a:p>
          <a:p>
            <a:r>
              <a:rPr lang="ru-RU" dirty="0">
                <a:solidFill>
                  <a:schemeClr val="bg1"/>
                </a:solidFill>
              </a:rPr>
              <a:t>ИИ версия: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1. Зашел, русским языком написал что сделать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2. Получил </a:t>
            </a:r>
            <a:r>
              <a:rPr lang="en-US" dirty="0">
                <a:solidFill>
                  <a:schemeClr val="bg1"/>
                </a:solidFill>
              </a:rPr>
              <a:t>json</a:t>
            </a:r>
            <a:r>
              <a:rPr lang="ru-RU" dirty="0">
                <a:solidFill>
                  <a:schemeClr val="bg1"/>
                </a:solidFill>
              </a:rPr>
              <a:t> 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3.Вставляй в бота</a:t>
            </a:r>
            <a:br>
              <a:rPr lang="ru-RU" dirty="0">
                <a:solidFill>
                  <a:schemeClr val="bg1"/>
                </a:solidFill>
              </a:rPr>
            </a:b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в дальнейшем идея сделать так чтобы просто нажал кнопку отправить в бота и все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D31564F-5FE8-4689-B993-4875EBD86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9864" y="-200039"/>
            <a:ext cx="4477139" cy="23181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4A5FC-B925-43E6-8680-C6FF00A260CC}"/>
              </a:ext>
            </a:extLst>
          </p:cNvPr>
          <p:cNvSpPr txBox="1"/>
          <p:nvPr/>
        </p:nvSpPr>
        <p:spPr>
          <a:xfrm>
            <a:off x="560439" y="1710813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версия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EA1057-6626-4711-80F3-CA11A4DC56F7}"/>
              </a:ext>
            </a:extLst>
          </p:cNvPr>
          <p:cNvSpPr txBox="1"/>
          <p:nvPr/>
        </p:nvSpPr>
        <p:spPr>
          <a:xfrm>
            <a:off x="1327355" y="1466402"/>
            <a:ext cx="76174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dirty="0"/>
              <a:t>5</a:t>
            </a:r>
            <a:r>
              <a:rPr lang="ru-RU" dirty="0"/>
              <a:t>.10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23FA9D-4D61-406C-86A6-A433623DD1DA}"/>
              </a:ext>
            </a:extLst>
          </p:cNvPr>
          <p:cNvSpPr txBox="1"/>
          <p:nvPr/>
        </p:nvSpPr>
        <p:spPr>
          <a:xfrm>
            <a:off x="325312" y="2124826"/>
            <a:ext cx="554522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Поддержка функционала мини-приложений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Расширяемость без границ: </a:t>
            </a:r>
            <a:r>
              <a:rPr lang="en-US" sz="2000" dirty="0"/>
              <a:t>c</a:t>
            </a:r>
            <a:r>
              <a:rPr lang="ru-RU" sz="2000" dirty="0" err="1"/>
              <a:t>истема</a:t>
            </a:r>
            <a:r>
              <a:rPr lang="ru-RU" sz="2000" dirty="0"/>
              <a:t> </a:t>
            </a:r>
            <a:r>
              <a:rPr lang="en-US" sz="2000" dirty="0"/>
              <a:t>Plug-n-Play </a:t>
            </a:r>
            <a:r>
              <a:rPr lang="ru-RU" sz="2000" dirty="0"/>
              <a:t>для модулей действий, сбора статистики, </a:t>
            </a:r>
            <a:r>
              <a:rPr lang="en-US" sz="2000" dirty="0"/>
              <a:t>web-</a:t>
            </a:r>
            <a:r>
              <a:rPr lang="ru-RU" sz="2000" dirty="0"/>
              <a:t>приложений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Новые функции: пользовательские счетчики, настраиваемая форма календаря, организация </a:t>
            </a:r>
            <a:r>
              <a:rPr lang="en-US" sz="2000" dirty="0"/>
              <a:t>peer-2-peer</a:t>
            </a:r>
            <a:r>
              <a:rPr lang="ru-RU" sz="2000" dirty="0"/>
              <a:t> взаимодействия между пользователями чат-бота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Режим администратора в любом чат-боте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Повышенная стабильность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194A38-CD65-41A4-B47C-DD728A13DBA1}"/>
              </a:ext>
            </a:extLst>
          </p:cNvPr>
          <p:cNvSpPr txBox="1"/>
          <p:nvPr/>
        </p:nvSpPr>
        <p:spPr>
          <a:xfrm>
            <a:off x="5604387" y="5875718"/>
            <a:ext cx="6031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 качестве бонуса – сервера для размещения в сети РТК ИТ</a:t>
            </a:r>
            <a:br>
              <a:rPr lang="ru-RU" dirty="0"/>
            </a:br>
            <a:r>
              <a:rPr lang="ru-RU" dirty="0"/>
              <a:t> (согласовано с ИБ!)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9618C3-4463-4976-AB38-5F685D17AE2B}"/>
              </a:ext>
            </a:extLst>
          </p:cNvPr>
          <p:cNvSpPr txBox="1"/>
          <p:nvPr/>
        </p:nvSpPr>
        <p:spPr>
          <a:xfrm>
            <a:off x="4383529" y="1028834"/>
            <a:ext cx="7238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Сертификат на скидку на  обучение в Школе </a:t>
            </a:r>
            <a:r>
              <a:rPr lang="ru-RU" dirty="0" err="1"/>
              <a:t>Ботостроения</a:t>
            </a:r>
            <a:r>
              <a:rPr lang="ru-RU" dirty="0"/>
              <a:t> – в подарок!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E0C6EC-70EF-4C2B-96DB-53D648E92FF3}"/>
              </a:ext>
            </a:extLst>
          </p:cNvPr>
          <p:cNvSpPr txBox="1"/>
          <p:nvPr/>
        </p:nvSpPr>
        <p:spPr>
          <a:xfrm>
            <a:off x="6221259" y="3863763"/>
            <a:ext cx="525780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Средства поддержки разработчиков: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/>
              <a:t>Средства </a:t>
            </a:r>
            <a:r>
              <a:rPr lang="ru-RU" sz="1600" dirty="0" err="1"/>
              <a:t>автодополнения</a:t>
            </a:r>
            <a:r>
              <a:rPr lang="ru-RU" sz="1600" dirty="0"/>
              <a:t> и подсветки синтаксиса кода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/>
              <a:t>Приложение-конструктор для формирования запланированных задач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/>
              <a:t>Подробное руководство разработчика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588123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BotApp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517693" y="2506662"/>
            <a:ext cx="5169310" cy="4351338"/>
          </a:xfrm>
        </p:spPr>
        <p:txBody>
          <a:bodyPr>
            <a:normAutofit fontScale="55000" lnSpcReduction="20000"/>
          </a:bodyPr>
          <a:lstStyle/>
          <a:p>
            <a:r>
              <a:rPr lang="ru-RU" dirty="0">
                <a:solidFill>
                  <a:schemeClr val="bg1"/>
                </a:solidFill>
              </a:rPr>
              <a:t>Что нового, что ценного, что теперь могут наши боты (+конструктор для </a:t>
            </a:r>
            <a:r>
              <a:rPr lang="en-US" dirty="0">
                <a:solidFill>
                  <a:schemeClr val="bg1"/>
                </a:solidFill>
              </a:rPr>
              <a:t>tasks)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Для тасок: - сложность, тяжело </a:t>
            </a:r>
            <a:r>
              <a:rPr lang="ru-RU" dirty="0" err="1">
                <a:solidFill>
                  <a:schemeClr val="bg1"/>
                </a:solidFill>
              </a:rPr>
              <a:t>генерить</a:t>
            </a:r>
            <a:r>
              <a:rPr lang="ru-RU" dirty="0">
                <a:solidFill>
                  <a:schemeClr val="bg1"/>
                </a:solidFill>
              </a:rPr>
              <a:t> задачи для бота в формате «отправь пользователя «Х» такое-то сообщение в такое-то время» Надо заботится об отступах, запятых и всяких важных для кода штуках.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Для этого есть приложение конструктор (Есть версия с ИИ)</a:t>
            </a:r>
          </a:p>
          <a:p>
            <a:r>
              <a:rPr lang="ru-RU" dirty="0">
                <a:solidFill>
                  <a:schemeClr val="bg1"/>
                </a:solidFill>
              </a:rPr>
              <a:t>Обычное: 1. Зашел заполнил шаблон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2. Получил готовый </a:t>
            </a:r>
            <a:r>
              <a:rPr lang="en-US" dirty="0">
                <a:solidFill>
                  <a:schemeClr val="bg1"/>
                </a:solidFill>
              </a:rPr>
              <a:t>json</a:t>
            </a:r>
            <a:r>
              <a:rPr lang="ru-RU" dirty="0">
                <a:solidFill>
                  <a:schemeClr val="bg1"/>
                </a:solidFill>
              </a:rPr>
              <a:t> файл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3. Быстро глянул – проверил (ничего ли не забыл)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4. все используй, вставляя в бота</a:t>
            </a:r>
          </a:p>
          <a:p>
            <a:r>
              <a:rPr lang="ru-RU" dirty="0">
                <a:solidFill>
                  <a:schemeClr val="bg1"/>
                </a:solidFill>
              </a:rPr>
              <a:t>ИИ версия: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1. Зашел, русским языком написал что сделать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2. Получил </a:t>
            </a:r>
            <a:r>
              <a:rPr lang="en-US" dirty="0">
                <a:solidFill>
                  <a:schemeClr val="bg1"/>
                </a:solidFill>
              </a:rPr>
              <a:t>json</a:t>
            </a:r>
            <a:r>
              <a:rPr lang="ru-RU" dirty="0">
                <a:solidFill>
                  <a:schemeClr val="bg1"/>
                </a:solidFill>
              </a:rPr>
              <a:t> 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3.Вставляй в бота</a:t>
            </a:r>
            <a:br>
              <a:rPr lang="ru-RU" dirty="0">
                <a:solidFill>
                  <a:schemeClr val="bg1"/>
                </a:solidFill>
              </a:rPr>
            </a:b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в дальнейшем идея сделать так чтобы просто нажал кнопку отправить в бота и все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D31564F-5FE8-4689-B993-4875EBD86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9864" y="-200039"/>
            <a:ext cx="4477139" cy="23181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4A5FC-B925-43E6-8680-C6FF00A260CC}"/>
              </a:ext>
            </a:extLst>
          </p:cNvPr>
          <p:cNvSpPr txBox="1"/>
          <p:nvPr/>
        </p:nvSpPr>
        <p:spPr>
          <a:xfrm>
            <a:off x="1751889" y="2313560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версия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EA1057-6626-4711-80F3-CA11A4DC56F7}"/>
              </a:ext>
            </a:extLst>
          </p:cNvPr>
          <p:cNvSpPr txBox="1"/>
          <p:nvPr/>
        </p:nvSpPr>
        <p:spPr>
          <a:xfrm>
            <a:off x="2552619" y="2077337"/>
            <a:ext cx="64472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dirty="0"/>
              <a:t>6</a:t>
            </a:r>
            <a:r>
              <a:rPr lang="ru-RU" dirty="0"/>
              <a:t>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23FA9D-4D61-406C-86A6-A433623DD1DA}"/>
              </a:ext>
            </a:extLst>
          </p:cNvPr>
          <p:cNvSpPr txBox="1"/>
          <p:nvPr/>
        </p:nvSpPr>
        <p:spPr>
          <a:xfrm>
            <a:off x="275208" y="3652660"/>
            <a:ext cx="55452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Полностью обновленная архитектура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Web-</a:t>
            </a:r>
            <a:r>
              <a:rPr lang="ru-RU" sz="2000" dirty="0"/>
              <a:t>интерфейс для управления планировщиком задач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 err="1"/>
              <a:t>Мультиканальность</a:t>
            </a:r>
            <a:r>
              <a:rPr lang="ru-RU" sz="2000" dirty="0"/>
              <a:t>: интеграции с </a:t>
            </a:r>
            <a:r>
              <a:rPr lang="en-US" sz="2000" dirty="0"/>
              <a:t>VK Messenger </a:t>
            </a:r>
            <a:r>
              <a:rPr lang="ru-RU" sz="2000" dirty="0"/>
              <a:t>и </a:t>
            </a:r>
            <a:r>
              <a:rPr lang="en-US" sz="2000" dirty="0"/>
              <a:t>Max</a:t>
            </a: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E0C6EC-70EF-4C2B-96DB-53D648E92FF3}"/>
              </a:ext>
            </a:extLst>
          </p:cNvPr>
          <p:cNvSpPr txBox="1"/>
          <p:nvPr/>
        </p:nvSpPr>
        <p:spPr>
          <a:xfrm>
            <a:off x="8551103" y="827851"/>
            <a:ext cx="32108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Доступен предзаказ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835154-6175-4827-8459-4B98AF92A22B}"/>
              </a:ext>
            </a:extLst>
          </p:cNvPr>
          <p:cNvSpPr txBox="1"/>
          <p:nvPr/>
        </p:nvSpPr>
        <p:spPr>
          <a:xfrm>
            <a:off x="761088" y="1926457"/>
            <a:ext cx="234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Скоро! Скоро! Скоро!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A65389-AA98-4BAF-92A3-4D7C390CCEB4}"/>
              </a:ext>
            </a:extLst>
          </p:cNvPr>
          <p:cNvSpPr txBox="1"/>
          <p:nvPr/>
        </p:nvSpPr>
        <p:spPr>
          <a:xfrm>
            <a:off x="7686807" y="4986492"/>
            <a:ext cx="32108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Следите за рекламой!</a:t>
            </a:r>
          </a:p>
        </p:txBody>
      </p:sp>
    </p:spTree>
    <p:extLst>
      <p:ext uri="{BB962C8B-B14F-4D97-AF65-F5344CB8AC3E}">
        <p14:creationId xmlns:p14="http://schemas.microsoft.com/office/powerpoint/2010/main" val="305101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Адапт</a:t>
            </a:r>
            <a:r>
              <a:rPr lang="en-US" dirty="0"/>
              <a:t>ON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6000" y="1330163"/>
            <a:ext cx="5374105" cy="306387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Акселератор:</a:t>
            </a:r>
          </a:p>
          <a:p>
            <a:r>
              <a:rPr lang="ru-RU" dirty="0"/>
              <a:t>Переосмыслено позиционирование продукта</a:t>
            </a:r>
          </a:p>
          <a:p>
            <a:r>
              <a:rPr lang="ru-RU" dirty="0"/>
              <a:t>Выявлены ключевые боли</a:t>
            </a:r>
          </a:p>
          <a:p>
            <a:r>
              <a:rPr lang="ru-RU" dirty="0"/>
              <a:t>Обновлен генератор ссылок- </a:t>
            </a:r>
            <a:r>
              <a:rPr lang="ru-RU" dirty="0" err="1"/>
              <a:t>инвайтов</a:t>
            </a:r>
            <a:r>
              <a:rPr lang="ru-RU" dirty="0"/>
              <a:t>: новая функциональность – автоматическое формирование списков для назначения программ адаптации</a:t>
            </a:r>
          </a:p>
          <a:p>
            <a:r>
              <a:rPr lang="ru-RU" dirty="0"/>
              <a:t>Формирование для тренера списка новичков, готовых к практикумам – одной кнопкой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E2C203-CAA9-4E23-80E5-5C846C6CE711}"/>
              </a:ext>
            </a:extLst>
          </p:cNvPr>
          <p:cNvSpPr txBox="1"/>
          <p:nvPr/>
        </p:nvSpPr>
        <p:spPr>
          <a:xfrm>
            <a:off x="1307431" y="1690688"/>
            <a:ext cx="26167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+</a:t>
            </a:r>
            <a:r>
              <a:rPr lang="ru-RU" sz="5400" dirty="0"/>
              <a:t>4</a:t>
            </a:r>
            <a:r>
              <a:rPr lang="ru-RU" dirty="0"/>
              <a:t> тыс. пользователей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45C731-37F8-44C8-A85F-5BA0CABD37DF}"/>
              </a:ext>
            </a:extLst>
          </p:cNvPr>
          <p:cNvSpPr txBox="1"/>
          <p:nvPr/>
        </p:nvSpPr>
        <p:spPr>
          <a:xfrm>
            <a:off x="1307431" y="2446603"/>
            <a:ext cx="13489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+</a:t>
            </a:r>
            <a:r>
              <a:rPr lang="ru-RU" sz="4800" dirty="0"/>
              <a:t>8 </a:t>
            </a:r>
            <a:r>
              <a:rPr lang="ru-RU" dirty="0"/>
              <a:t>ролей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E39154-7E76-43FE-BCC1-F37533824159}"/>
              </a:ext>
            </a:extLst>
          </p:cNvPr>
          <p:cNvSpPr txBox="1"/>
          <p:nvPr/>
        </p:nvSpPr>
        <p:spPr>
          <a:xfrm>
            <a:off x="8047755" y="5020005"/>
            <a:ext cx="32108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Скоро: функционал самостоятельной записи новичков на практикумы</a:t>
            </a:r>
          </a:p>
        </p:txBody>
      </p:sp>
    </p:spTree>
    <p:extLst>
      <p:ext uri="{BB962C8B-B14F-4D97-AF65-F5344CB8AC3E}">
        <p14:creationId xmlns:p14="http://schemas.microsoft.com/office/powerpoint/2010/main" val="1539922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Другие боты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6937" y="1837657"/>
            <a:ext cx="5887453" cy="1158207"/>
          </a:xfrm>
        </p:spPr>
        <p:txBody>
          <a:bodyPr/>
          <a:lstStyle/>
          <a:p>
            <a:r>
              <a:rPr lang="ru-RU" dirty="0"/>
              <a:t>Искусство Переговоров (</a:t>
            </a:r>
            <a:r>
              <a:rPr lang="en-US" dirty="0"/>
              <a:t>B2B)</a:t>
            </a:r>
          </a:p>
          <a:p>
            <a:r>
              <a:rPr lang="ru-RU" dirty="0"/>
              <a:t>Программа ИИ-Проводники 2.0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C5D1C2-4DA7-4F30-937D-EEEF597A2DB9}"/>
              </a:ext>
            </a:extLst>
          </p:cNvPr>
          <p:cNvSpPr txBox="1"/>
          <p:nvPr/>
        </p:nvSpPr>
        <p:spPr>
          <a:xfrm>
            <a:off x="1191127" y="2946135"/>
            <a:ext cx="6286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Новый функционал: </a:t>
            </a:r>
            <a:r>
              <a:rPr lang="en-US" dirty="0"/>
              <a:t>peer-2-peer </a:t>
            </a:r>
            <a:r>
              <a:rPr lang="ru-RU" dirty="0"/>
              <a:t>проверки домашних заданий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779EF5AC-B559-45B0-8D1B-8400D8685F0A}"/>
              </a:ext>
            </a:extLst>
          </p:cNvPr>
          <p:cNvSpPr txBox="1">
            <a:spLocks/>
          </p:cNvSpPr>
          <p:nvPr/>
        </p:nvSpPr>
        <p:spPr>
          <a:xfrm>
            <a:off x="4712368" y="4251312"/>
            <a:ext cx="5887453" cy="525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Школа аналитика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A8B312-A775-4679-A81B-D97EF910E296}"/>
              </a:ext>
            </a:extLst>
          </p:cNvPr>
          <p:cNvSpPr txBox="1"/>
          <p:nvPr/>
        </p:nvSpPr>
        <p:spPr>
          <a:xfrm>
            <a:off x="5414210" y="4686021"/>
            <a:ext cx="63045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Новый функционал: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peer-2-peer </a:t>
            </a:r>
            <a:r>
              <a:rPr lang="ru-RU" dirty="0"/>
              <a:t>проверки домашних заданий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Букинг тайм-слотов для встреч, заполнение чек-листов – в формате мини-приложений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0619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</a:t>
            </a:r>
            <a:r>
              <a:rPr lang="en-US" dirty="0" err="1"/>
              <a:t>SpellChecker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Надоело долго </a:t>
            </a:r>
            <a:r>
              <a:rPr lang="ru-RU" dirty="0" err="1"/>
              <a:t>отсматривать</a:t>
            </a:r>
            <a:r>
              <a:rPr lang="ru-RU" dirty="0"/>
              <a:t> смонтированные видео, по после публикации получать за допущенные ошибки в титрах?</a:t>
            </a:r>
          </a:p>
          <a:p>
            <a:pPr marL="0" indent="0">
              <a:buNone/>
            </a:pPr>
            <a:r>
              <a:rPr lang="ru-RU" dirty="0"/>
              <a:t>Тогда мы идем к вам!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340FD0-1FD5-40CE-A9D4-B269254E4EF8}"/>
              </a:ext>
            </a:extLst>
          </p:cNvPr>
          <p:cNvSpPr txBox="1"/>
          <p:nvPr/>
        </p:nvSpPr>
        <p:spPr>
          <a:xfrm>
            <a:off x="1118936" y="5368701"/>
            <a:ext cx="3058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Работает на </a:t>
            </a:r>
            <a:r>
              <a:rPr lang="en-US" dirty="0"/>
              <a:t>Windows </a:t>
            </a:r>
            <a:r>
              <a:rPr lang="ru-RU" dirty="0"/>
              <a:t>и на </a:t>
            </a:r>
            <a:r>
              <a:rPr lang="en-US" dirty="0"/>
              <a:t>Alt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7EE217-DB5E-4404-8477-53700A1E269D}"/>
              </a:ext>
            </a:extLst>
          </p:cNvPr>
          <p:cNvSpPr txBox="1"/>
          <p:nvPr/>
        </p:nvSpPr>
        <p:spPr>
          <a:xfrm>
            <a:off x="838200" y="4297891"/>
            <a:ext cx="43880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Словари русского и английского языка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Пользовательский словарь исключений</a:t>
            </a:r>
          </a:p>
        </p:txBody>
      </p:sp>
    </p:spTree>
    <p:extLst>
      <p:ext uri="{BB962C8B-B14F-4D97-AF65-F5344CB8AC3E}">
        <p14:creationId xmlns:p14="http://schemas.microsoft.com/office/powerpoint/2010/main" val="3612108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Конструктор рассылок</a:t>
            </a:r>
          </a:p>
        </p:txBody>
      </p:sp>
      <p:sp>
        <p:nvSpPr>
          <p:cNvPr id="4" name="Объект 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Главная проблема рассылок, что все блоки надо собирать самостоятельно, иногда приходится лезть в табличную верстку рассылки, если нужно добавить эксперта надо пользоваться </a:t>
            </a:r>
            <a:r>
              <a:rPr lang="ru-RU" dirty="0" err="1"/>
              <a:t>фигмой</a:t>
            </a:r>
            <a:r>
              <a:rPr lang="ru-RU" dirty="0"/>
              <a:t> или другим редактором картинок, также если шаблон который существует не подходит, то </a:t>
            </a:r>
            <a:r>
              <a:rPr lang="ru-RU" dirty="0" err="1"/>
              <a:t>что-бы</a:t>
            </a:r>
            <a:r>
              <a:rPr lang="ru-RU" dirty="0"/>
              <a:t> его поправить уходит много сил и времени.</a:t>
            </a:r>
          </a:p>
          <a:p>
            <a:r>
              <a:rPr lang="ru-RU" dirty="0"/>
              <a:t>Есть удобный интерфейс с шаблонами и набором блоков, которые можно добавлять, быстро убирать или объединять. Можно избежать частичной работы </a:t>
            </a:r>
            <a:r>
              <a:rPr lang="ru-RU" dirty="0" err="1"/>
              <a:t>вфигме</a:t>
            </a:r>
            <a:r>
              <a:rPr lang="ru-RU" dirty="0"/>
              <a:t> и редакторах, планируем в дальнейшем планируем полный функционал внутри.</a:t>
            </a:r>
            <a:br>
              <a:rPr lang="ru-RU" dirty="0"/>
            </a:br>
            <a:r>
              <a:rPr lang="ru-RU" dirty="0"/>
              <a:t>Как работает:</a:t>
            </a:r>
            <a:br>
              <a:rPr lang="ru-RU" dirty="0"/>
            </a:br>
            <a:r>
              <a:rPr lang="ru-RU" dirty="0"/>
              <a:t>1. открыли приложение</a:t>
            </a:r>
            <a:br>
              <a:rPr lang="ru-RU" dirty="0"/>
            </a:br>
            <a:r>
              <a:rPr lang="ru-RU" dirty="0"/>
              <a:t>2. Выбрали или создали свой шаблон</a:t>
            </a:r>
            <a:br>
              <a:rPr lang="ru-RU" dirty="0"/>
            </a:br>
            <a:r>
              <a:rPr lang="ru-RU" dirty="0"/>
              <a:t>3. Отредактировали блоки прям в приложении</a:t>
            </a:r>
            <a:br>
              <a:rPr lang="ru-RU" dirty="0"/>
            </a:br>
            <a:r>
              <a:rPr lang="ru-RU" dirty="0"/>
              <a:t>4. Нажали отправить в </a:t>
            </a:r>
            <a:r>
              <a:rPr lang="en-US" dirty="0"/>
              <a:t>outlook</a:t>
            </a:r>
            <a:br>
              <a:rPr lang="ru-RU" dirty="0"/>
            </a:br>
            <a:r>
              <a:rPr lang="ru-RU" dirty="0"/>
              <a:t>4. В сгенерированном письме просто все проверили, вставили адресатов и отправили.</a:t>
            </a:r>
          </a:p>
          <a:p>
            <a:r>
              <a:rPr lang="ru-RU" dirty="0" err="1"/>
              <a:t>Демо</a:t>
            </a:r>
            <a:r>
              <a:rPr lang="ru-RU" dirty="0"/>
              <a:t> (</a:t>
            </a:r>
            <a:r>
              <a:rPr lang="ru-RU" dirty="0" err="1"/>
              <a:t>скрины</a:t>
            </a:r>
            <a:r>
              <a:rPr lang="ru-RU" dirty="0"/>
              <a:t>, </a:t>
            </a:r>
            <a:r>
              <a:rPr lang="ru-RU" dirty="0" err="1"/>
              <a:t>скринкаст</a:t>
            </a:r>
            <a:r>
              <a:rPr lang="ru-RU" dirty="0"/>
              <a:t>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B1A404D-6DEB-4D03-B1BA-F04B54D83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7674" y="5815598"/>
            <a:ext cx="5029200" cy="2585545"/>
          </a:xfrm>
          <a:prstGeom prst="rect">
            <a:avLst/>
          </a:prstGeom>
        </p:spPr>
      </p:pic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3FEB9786-D5FD-4EDC-B6B6-69065389D4BB}"/>
              </a:ext>
            </a:extLst>
          </p:cNvPr>
          <p:cNvGrpSpPr/>
          <p:nvPr/>
        </p:nvGrpSpPr>
        <p:grpSpPr>
          <a:xfrm>
            <a:off x="10668000" y="3760014"/>
            <a:ext cx="4723581" cy="3348356"/>
            <a:chOff x="25400" y="-969993"/>
            <a:chExt cx="12192000" cy="8642416"/>
          </a:xfrm>
        </p:grpSpPr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11F5E8DA-64A8-4B31-8A25-BD172CF65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400" y="-969993"/>
              <a:ext cx="12192000" cy="5591236"/>
            </a:xfrm>
            <a:prstGeom prst="rect">
              <a:avLst/>
            </a:prstGeom>
          </p:spPr>
        </p:pic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C961E6F1-F8EE-44E4-B1FB-76579344D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400" y="3511814"/>
              <a:ext cx="12192000" cy="41606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82712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Конструктор тестов</a:t>
            </a:r>
          </a:p>
        </p:txBody>
      </p:sp>
      <p:sp>
        <p:nvSpPr>
          <p:cNvPr id="4" name="Объект 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ru-RU" dirty="0"/>
              <a:t>Тесты внутри системы ЛМС дают ограниченный функционал подачи обратной связи.</a:t>
            </a:r>
          </a:p>
          <a:p>
            <a:r>
              <a:rPr lang="ru-RU" dirty="0"/>
              <a:t>Приложение на сервере, которое позволяет создавать тесты, паковать </a:t>
            </a:r>
            <a:r>
              <a:rPr lang="ru-RU" dirty="0" err="1"/>
              <a:t>изв</a:t>
            </a:r>
            <a:r>
              <a:rPr lang="ru-RU" dirty="0"/>
              <a:t> скорм пакет как курс и потом загружать в </a:t>
            </a:r>
            <a:r>
              <a:rPr lang="ru-RU" dirty="0" err="1"/>
              <a:t>лмс</a:t>
            </a:r>
            <a:endParaRPr lang="ru-RU" dirty="0"/>
          </a:p>
          <a:p>
            <a:r>
              <a:rPr lang="ru-RU" dirty="0" err="1"/>
              <a:t>Демо</a:t>
            </a:r>
            <a:r>
              <a:rPr lang="ru-RU" dirty="0"/>
              <a:t> (</a:t>
            </a:r>
            <a:r>
              <a:rPr lang="ru-RU" dirty="0" err="1"/>
              <a:t>скрины</a:t>
            </a:r>
            <a:r>
              <a:rPr lang="ru-RU" dirty="0"/>
              <a:t>, </a:t>
            </a:r>
            <a:r>
              <a:rPr lang="ru-RU" dirty="0" err="1"/>
              <a:t>скринкаст</a:t>
            </a:r>
            <a:r>
              <a:rPr lang="ru-RU" dirty="0"/>
              <a:t>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20686B7-6A8B-4821-A771-48646A447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76699"/>
            <a:ext cx="4849817" cy="252067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4692C48-76D9-43B0-9A32-9A7CCF225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1700" y="4544280"/>
            <a:ext cx="5067300" cy="261606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B56C87D-8D57-4072-A864-D23D25CA1D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900" y="3732963"/>
            <a:ext cx="4759766" cy="2444000"/>
          </a:xfrm>
          <a:prstGeom prst="rect">
            <a:avLst/>
          </a:prstGeom>
        </p:spPr>
      </p:pic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CFD7B859-0C28-4198-859B-ADC079FFF71B}"/>
              </a:ext>
            </a:extLst>
          </p:cNvPr>
          <p:cNvGrpSpPr/>
          <p:nvPr/>
        </p:nvGrpSpPr>
        <p:grpSpPr>
          <a:xfrm>
            <a:off x="7147414" y="-534613"/>
            <a:ext cx="6117487" cy="3125037"/>
            <a:chOff x="-2606186" y="-1562519"/>
            <a:chExt cx="6117487" cy="3125037"/>
          </a:xfrm>
        </p:grpSpPr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51FCE679-F4BF-4502-9434-8C631C6600D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-2606186" y="-1562519"/>
              <a:ext cx="3034892" cy="3125037"/>
            </a:xfrm>
            <a:prstGeom prst="rect">
              <a:avLst/>
            </a:prstGeom>
          </p:spPr>
        </p:pic>
        <p:pic>
          <p:nvPicPr>
            <p:cNvPr id="13" name="Рисунок 12">
              <a:extLst>
                <a:ext uri="{FF2B5EF4-FFF2-40B4-BE49-F238E27FC236}">
                  <a16:creationId xmlns:a16="http://schemas.microsoft.com/office/drawing/2014/main" id="{E9662F13-6CFA-4A80-8C9A-06D458986A1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30507" y="-1531729"/>
              <a:ext cx="3080794" cy="30942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85936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Робот отчетов</a:t>
            </a:r>
          </a:p>
        </p:txBody>
      </p:sp>
      <p:sp>
        <p:nvSpPr>
          <p:cNvPr id="4" name="Объект 4"/>
          <p:cNvSpPr>
            <a:spLocks noGrp="1"/>
          </p:cNvSpPr>
          <p:nvPr>
            <p:ph idx="1"/>
          </p:nvPr>
        </p:nvSpPr>
        <p:spPr>
          <a:xfrm>
            <a:off x="578160" y="3429000"/>
            <a:ext cx="10515600" cy="2257843"/>
          </a:xfrm>
        </p:spPr>
        <p:txBody>
          <a:bodyPr/>
          <a:lstStyle/>
          <a:p>
            <a:pPr marL="914400" lvl="1" indent="-457200">
              <a:buAutoNum type="arabicPeriod"/>
            </a:pPr>
            <a:r>
              <a:rPr lang="ru-RU" dirty="0"/>
              <a:t>По расписанию заказ и получение выгрузки в ОУ</a:t>
            </a:r>
          </a:p>
          <a:p>
            <a:pPr marL="914400" lvl="1" indent="-457200">
              <a:buAutoNum type="arabicPeriod"/>
            </a:pPr>
            <a:r>
              <a:rPr lang="ru-RU" dirty="0"/>
              <a:t>Обработка отчета к нужному формату</a:t>
            </a:r>
          </a:p>
          <a:p>
            <a:pPr marL="914400" lvl="1" indent="-457200">
              <a:buAutoNum type="arabicPeriod"/>
            </a:pPr>
            <a:r>
              <a:rPr lang="ru-RU" dirty="0"/>
              <a:t>Отправка на требуемый адрес, либо выкладывание в папку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47440" y="5686843"/>
            <a:ext cx="456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Скоро: Получение данных напрямую из ЦХД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0745B1A6-9FBE-4138-82FD-8B2F354C1A0C}"/>
              </a:ext>
            </a:extLst>
          </p:cNvPr>
          <p:cNvSpPr txBox="1">
            <a:spLocks/>
          </p:cNvSpPr>
          <p:nvPr/>
        </p:nvSpPr>
        <p:spPr>
          <a:xfrm>
            <a:off x="705852" y="145629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err="1"/>
              <a:t>Задолбались</a:t>
            </a:r>
            <a:r>
              <a:rPr lang="ru-RU" dirty="0"/>
              <a:t> постоянно заказывать одинаковые выгрузки из ОУ а потом крутить их в </a:t>
            </a:r>
            <a:r>
              <a:rPr lang="en-US" dirty="0"/>
              <a:t>Excel</a:t>
            </a:r>
            <a:r>
              <a:rPr lang="ru-RU" dirty="0"/>
              <a:t>? </a:t>
            </a:r>
          </a:p>
          <a:p>
            <a:r>
              <a:rPr lang="ru-RU" dirty="0"/>
              <a:t>Это предложение – для вас!</a:t>
            </a:r>
          </a:p>
        </p:txBody>
      </p:sp>
    </p:spTree>
    <p:extLst>
      <p:ext uri="{BB962C8B-B14F-4D97-AF65-F5344CB8AC3E}">
        <p14:creationId xmlns:p14="http://schemas.microsoft.com/office/powerpoint/2010/main" val="1311291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Автоматическое заполнение </a:t>
            </a:r>
            <a:r>
              <a:rPr lang="en-US" dirty="0"/>
              <a:t>PDF-</a:t>
            </a:r>
            <a:r>
              <a:rPr lang="ru-RU" dirty="0"/>
              <a:t>шаблонов</a:t>
            </a:r>
          </a:p>
        </p:txBody>
      </p:sp>
      <p:sp>
        <p:nvSpPr>
          <p:cNvPr id="4" name="Объект 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ru-RU" dirty="0"/>
              <a:t>Какую проблему решает Надо сразу много сертификатов </a:t>
            </a:r>
            <a:r>
              <a:rPr lang="en-US" dirty="0"/>
              <a:t>PDF</a:t>
            </a:r>
            <a:r>
              <a:rPr lang="ru-RU" dirty="0"/>
              <a:t>, на разных людей. Есть ексель и шаблон, но заполнять приходится руками.</a:t>
            </a:r>
          </a:p>
          <a:p>
            <a:r>
              <a:rPr lang="ru-RU" dirty="0"/>
              <a:t>Как работает –  используем любой пустой </a:t>
            </a:r>
            <a:r>
              <a:rPr lang="en-US" dirty="0"/>
              <a:t>PDF, </a:t>
            </a:r>
            <a:r>
              <a:rPr lang="ru-RU" dirty="0"/>
              <a:t>Используем ексель </a:t>
            </a:r>
            <a:r>
              <a:rPr lang="ru-RU" dirty="0" err="1"/>
              <a:t>табичку</a:t>
            </a:r>
            <a:r>
              <a:rPr lang="ru-RU" dirty="0"/>
              <a:t> с 2 столбцами, заполненную, все в приложении по позиции и цвету настраиваем и все тыкаем сгенерировать. Получаем все сертификаты со всеми людьми  настроив только один сертификат.</a:t>
            </a:r>
          </a:p>
          <a:p>
            <a:r>
              <a:rPr lang="ru-RU" dirty="0" err="1"/>
              <a:t>Демо</a:t>
            </a:r>
            <a:r>
              <a:rPr lang="ru-RU" dirty="0"/>
              <a:t> (</a:t>
            </a:r>
            <a:r>
              <a:rPr lang="ru-RU" dirty="0" err="1"/>
              <a:t>скрины</a:t>
            </a:r>
            <a:r>
              <a:rPr lang="ru-RU" dirty="0"/>
              <a:t>, </a:t>
            </a:r>
            <a:r>
              <a:rPr lang="ru-RU" dirty="0" err="1"/>
              <a:t>скринкаст</a:t>
            </a:r>
            <a:r>
              <a:rPr lang="ru-RU" dirty="0"/>
              <a:t>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32C51A1-CCD8-41F5-8126-CB4564B3A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0113" y="3976075"/>
            <a:ext cx="4907374" cy="25168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3C89984-76F2-46F2-AB03-E31460D8C8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201" y="5756110"/>
            <a:ext cx="4434796" cy="2203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551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Мы экономим ваше время и нервы!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4408C3-C179-4F8E-B49E-E32C26F1FD30}"/>
              </a:ext>
            </a:extLst>
          </p:cNvPr>
          <p:cNvSpPr txBox="1"/>
          <p:nvPr/>
        </p:nvSpPr>
        <p:spPr>
          <a:xfrm>
            <a:off x="8349916" y="4021971"/>
            <a:ext cx="2442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Звоните прямо сейчас!</a:t>
            </a:r>
          </a:p>
        </p:txBody>
      </p:sp>
    </p:spTree>
    <p:extLst>
      <p:ext uri="{BB962C8B-B14F-4D97-AF65-F5344CB8AC3E}">
        <p14:creationId xmlns:p14="http://schemas.microsoft.com/office/powerpoint/2010/main" val="3557823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1049</Words>
  <Application>Microsoft Office PowerPoint</Application>
  <PresentationFormat>Широкоэкранный</PresentationFormat>
  <Paragraphs>99</Paragraphs>
  <Slides>12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Тема Office</vt:lpstr>
      <vt:lpstr>Магазин на диване</vt:lpstr>
      <vt:lpstr>Праздничная распродажа</vt:lpstr>
      <vt:lpstr>BotApp</vt:lpstr>
      <vt:lpstr>BotApp</vt:lpstr>
      <vt:lpstr>АдаптON</vt:lpstr>
      <vt:lpstr>Другие боты</vt:lpstr>
      <vt:lpstr>Video SpellChecker</vt:lpstr>
      <vt:lpstr>Конструктор рассылок</vt:lpstr>
      <vt:lpstr>Конструктор тестов</vt:lpstr>
      <vt:lpstr>Робот отчетов</vt:lpstr>
      <vt:lpstr>Автоматическое заполнение PDF-шаблонов</vt:lpstr>
      <vt:lpstr>Мы экономим ваше время и нервы!</vt:lpstr>
    </vt:vector>
  </TitlesOfParts>
  <Company>ПАО "Ростелеком"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Какой-то заголовок</dc:title>
  <dc:creator>Внуковский Владислав Валерьевич</dc:creator>
  <cp:lastModifiedBy>Evgeniy Zubkov</cp:lastModifiedBy>
  <cp:revision>22</cp:revision>
  <dcterms:created xsi:type="dcterms:W3CDTF">2025-12-23T10:44:37Z</dcterms:created>
  <dcterms:modified xsi:type="dcterms:W3CDTF">2025-12-25T07:10:57Z</dcterms:modified>
</cp:coreProperties>
</file>